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rojec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2903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520"/>
              </a:lnSpc>
              <a:spcAft>
                <a:spcPts val="40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RailPulse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2286000" cy="36576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400"/>
              </a:spcAft>
              <a:defRPr sz="2800" b="0">
                <a:solidFill>
                  <a:srgbClr val="009BDE"/>
                </a:solidFill>
                <a:latin typeface="Calibri"/>
              </a:defRPr>
            </a:pPr>
            <a:r>
              <a:t>Belgian Transit SQL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37160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CCDCE8"/>
                </a:solidFill>
                <a:latin typeface="Calibri"/>
              </a:defRPr>
            </a:pPr>
            <a:r>
              <a:t>Sprint 1 — Local Ingestion &amp; Relational Modelling</a:t>
            </a:r>
            <a:br/>
            <a:br/>
            <a:r>
              <a:t>Enterprise-grade ELT pipeline over the SNCB/NMBS national timetable</a:t>
            </a:r>
            <a:br/>
            <a:br/>
            <a:r>
              <a:t>2.17 million scheduled departures</a:t>
            </a:r>
            <a:br/>
            <a:r>
              <a:t>652 stations · 1,801 routes</a:t>
            </a:r>
            <a:br/>
            <a:r>
              <a:t>9 data-quality rules · 47 labelled queries</a:t>
            </a:r>
            <a:br/>
            <a:r>
              <a:t>Streamlit dashboard + text-to-SQL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73152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7F95AF"/>
                </a:solidFill>
                <a:latin typeface="Calibri"/>
              </a:defRPr>
            </a:pPr>
            <a:r>
              <a:rPr dirty="0"/>
              <a:t>St</a:t>
            </a:r>
            <a:r>
              <a:rPr lang="nl-BE"/>
              <a:t>e</a:t>
            </a:r>
            <a:r>
              <a:t>phane</a:t>
            </a:r>
            <a:r>
              <a:rPr dirty="0"/>
              <a:t> van der Aa  ·  </a:t>
            </a:r>
            <a:r>
              <a:rPr dirty="0" err="1"/>
              <a:t>BeCode</a:t>
            </a:r>
            <a:r>
              <a:rPr dirty="0"/>
              <a:t> AI &amp; Data Science  ·  24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009BD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Mission &amp;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22199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RailPulse consulting firm, SNCB client, winter scheduling optimisation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009BD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59" y="222199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GTFS feed, ELT pipeline, SQLite 3NF model, repository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009BD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063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336499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9 DQ rules, quarantine system, 3 feed quirks that shaped the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63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009BDE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3063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Five Analytical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36499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Peak hour, platform bottlenecks, morning destinations, service frequency, accessibility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009BDE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50799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Bruxelles-Central bottleneck, annualisation insight, accessibility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06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009BDE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Nice-to-Haves &amp;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450799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Network leaderboard, index optimisation, Streamlit dashboard, SQL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009BDE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5349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Database Theory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565099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Key interview topics from the study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349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009BDE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5349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Project Deliverables &amp; Timeline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565099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Evaluation criteria, timeline, deliverables checklist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537960"/>
            <a:ext cx="1828800" cy="36576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Mission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400"/>
              </a:spcAft>
              <a:defRPr sz="2000" b="1">
                <a:solidFill>
                  <a:srgbClr val="009BDE"/>
                </a:solidFill>
                <a:latin typeface="Calibri"/>
              </a:defRPr>
            </a:pPr>
            <a:r>
              <a:t>The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CCDCE8"/>
                </a:solidFill>
                <a:latin typeface="Calibri"/>
              </a:defRPr>
            </a:pPr>
            <a:r>
              <a:t>RailPulse is an urban mobility consulting firm. The Belgian National Railway company (SNCB/NMBS) wants a clear overview of operational performance and delay patterns to optimise their winter scheduling. Our mission is to extract liveboard data directly from the iRail API, build a normalized database, and provide an analytical report detailing network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5303520" cy="246888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Learning Objectives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Design and build an SQL database schema from API data structures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Query relational tables to extract performance metrics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Handle date/time objects and calculate delays in SQL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Present an operational efficiency analysis to a business client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Consolidate: JOINs, GROUP BY, aggregations, time-series in 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303520" cy="246888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Challenge Parameters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Duration: 4 days · Deadline: 24/07/2026 5:00 PM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Team challenge (in spirit), individual delivery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NO pandas for filtering/aggregating — Python only for network I/O + sqlite3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All analytical questions solved with standard SQL operations only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Team feedback: 5 min overview + random Q&amp;A from study guide (SQL&amp;DB_theory.md)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&amp; The GTFS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009BDE"/>
                </a:solidFill>
                <a:latin typeface="Calibri"/>
              </a:defRPr>
            </a:pPr>
            <a:r>
              <a:t>Data Source: Belgian Mobility Open Data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CCDCE8"/>
                </a:solidFill>
                <a:latin typeface="Calibri"/>
              </a:defRPr>
            </a:pPr>
            <a:r>
              <a:t>We ingest GTFS Static (26 MB ZIP) and GTFS Realtime (JSON, every 30 s) from the official SNCB/NMBS developer portal. The static feed covers the full national timetable for 358 operating dates (2025-12-20 → 2026-12-12). A free Standard subscription key provides 12,000 requests/day at 500/min — our pipeline uses 1 request per rebuild.</a:t>
            </a:r>
          </a:p>
        </p:txBody>
      </p:sp>
      <p:pic>
        <p:nvPicPr>
          <p:cNvPr id="8" name="Picture 7" descr="developer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91840"/>
            <a:ext cx="5029200" cy="3108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3291840"/>
            <a:ext cx="1828800" cy="109728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3200" b="1">
                <a:solidFill>
                  <a:srgbClr val="009BDE"/>
                </a:solidFill>
                <a:latin typeface="Calibri"/>
              </a:defRPr>
            </a:pPr>
            <a:r>
              <a:t>2.17M</a:t>
            </a:r>
          </a:p>
          <a:p>
            <a:pPr algn="ctr">
              <a:defRPr sz="1000">
                <a:solidFill>
                  <a:srgbClr val="CCDCE8"/>
                </a:solidFill>
                <a:latin typeface="Calibri"/>
              </a:defRPr>
            </a:pPr>
            <a:r>
              <a:t>Timetabled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291840"/>
            <a:ext cx="1828800" cy="109728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3200" b="1">
                <a:solidFill>
                  <a:srgbClr val="009BDE"/>
                </a:solidFill>
                <a:latin typeface="Calibri"/>
              </a:defRPr>
            </a:pPr>
            <a:r>
              <a:t>134,809</a:t>
            </a:r>
          </a:p>
          <a:p>
            <a:pPr algn="ctr">
              <a:defRPr sz="1000">
                <a:solidFill>
                  <a:srgbClr val="CCDCE8"/>
                </a:solidFill>
                <a:latin typeface="Calibri"/>
              </a:defRPr>
            </a:pPr>
            <a:r>
              <a:t>Trips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7040" y="3291840"/>
            <a:ext cx="1828800" cy="109728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3200" b="1">
                <a:solidFill>
                  <a:srgbClr val="009BDE"/>
                </a:solidFill>
                <a:latin typeface="Calibri"/>
              </a:defRPr>
            </a:pPr>
            <a:r>
              <a:t>652</a:t>
            </a:r>
          </a:p>
          <a:p>
            <a:pPr algn="ctr">
              <a:defRPr sz="1000">
                <a:solidFill>
                  <a:srgbClr val="CCDCE8"/>
                </a:solidFill>
                <a:latin typeface="Calibri"/>
              </a:defRPr>
            </a:pPr>
            <a:r>
              <a:t>Stations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663440"/>
            <a:ext cx="1828800" cy="109728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3200" b="1">
                <a:solidFill>
                  <a:srgbClr val="009BDE"/>
                </a:solidFill>
                <a:latin typeface="Calibri"/>
              </a:defRPr>
            </a:pPr>
            <a:r>
              <a:t>1,801</a:t>
            </a:r>
          </a:p>
          <a:p>
            <a:pPr algn="ctr">
              <a:defRPr sz="1000">
                <a:solidFill>
                  <a:srgbClr val="CCDCE8"/>
                </a:solidFill>
                <a:latin typeface="Calibri"/>
              </a:defRPr>
            </a:pPr>
            <a:r>
              <a:t>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4663440"/>
            <a:ext cx="1828800" cy="109728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3200" b="1">
                <a:solidFill>
                  <a:srgbClr val="009BDE"/>
                </a:solidFill>
                <a:latin typeface="Calibri"/>
              </a:defRPr>
            </a:pPr>
            <a:r>
              <a:t>4.7M</a:t>
            </a:r>
          </a:p>
          <a:p>
            <a:pPr algn="ctr">
              <a:defRPr sz="1000">
                <a:solidFill>
                  <a:srgbClr val="CCDCE8"/>
                </a:solidFill>
                <a:latin typeface="Calibri"/>
              </a:defRPr>
            </a:pPr>
            <a:r>
              <a:t>Service 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4663440"/>
            <a:ext cx="1828800" cy="109728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3200" b="1">
                <a:solidFill>
                  <a:srgbClr val="009BDE"/>
                </a:solidFill>
                <a:latin typeface="Calibri"/>
              </a:defRPr>
            </a:pPr>
            <a:r>
              <a:t>1 GB</a:t>
            </a:r>
          </a:p>
          <a:p>
            <a:pPr algn="ctr">
              <a:defRPr sz="1000">
                <a:solidFill>
                  <a:srgbClr val="CCDCE8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Project Roadmap — Four Sprints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697480" cy="402336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009BDE"/>
                </a:solidFill>
                <a:latin typeface="Calibri"/>
              </a:defRPr>
            </a:pPr>
            <a:r>
              <a:t>SPRINT 1</a:t>
            </a:r>
          </a:p>
          <a:p>
            <a:pPr>
              <a:spcAft>
                <a:spcPts val="800"/>
              </a:spcAft>
              <a:defRPr sz="1300" b="1">
                <a:solidFill>
                  <a:srgbClr val="009BDE"/>
                </a:solidFill>
                <a:latin typeface="Calibri"/>
              </a:defRPr>
            </a:pPr>
            <a:r>
              <a:t>Sprint 1</a:t>
            </a:r>
            <a:br/>
            <a:r>
              <a:t>Local Ingestion &amp;</a:t>
            </a:r>
            <a:br/>
            <a:r>
              <a:t>Relational Modelling</a:t>
            </a:r>
          </a:p>
          <a:p>
            <a:pPr>
              <a:spcAft>
                <a:spcPts val="600"/>
              </a:spcAft>
              <a:defRPr sz="600">
                <a:solidFill>
                  <a:srgbClr val="009BDE"/>
                </a:solidFill>
              </a:defRPr>
            </a:pPr>
            <a:r>
              <a:t>────────────────────────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SQLite database + 3NF schema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GTFS Static feed ingestion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9 DQ rules, quarantine system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5 analytical questions (SQL only)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Streamlit dashboard, 47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697480" cy="402336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E74C3C"/>
                </a:solidFill>
                <a:latin typeface="Calibri"/>
              </a:defRPr>
            </a:pPr>
            <a:r>
              <a:t>SPRINT 2</a:t>
            </a:r>
          </a:p>
          <a:p>
            <a:pPr>
              <a:spcAft>
                <a:spcPts val="80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t>Sprint 2</a:t>
            </a:r>
            <a:br/>
            <a:r>
              <a:t>Cloud Migration &amp; Serverless</a:t>
            </a:r>
            <a:br/>
            <a:r>
              <a:t>Pipelines</a:t>
            </a:r>
          </a:p>
          <a:p>
            <a:pPr>
              <a:spcAft>
                <a:spcPts val="600"/>
              </a:spcAft>
              <a:defRPr sz="600">
                <a:solidFill>
                  <a:srgbClr val="E74C3C"/>
                </a:solidFill>
              </a:defRPr>
            </a:pPr>
            <a:r>
              <a:t>────────────────────────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Azure SQL / PostgreSQL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Azure Functions, Timer Trigger CRON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Poll GTFS-RT trip updates + alerts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Every 15-30 min, budget-controlled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Environment variables for secure connections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2697480" cy="402336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F39C12"/>
                </a:solidFill>
                <a:latin typeface="Calibri"/>
              </a:defRPr>
            </a:pPr>
            <a:r>
              <a:t>SPRINT 3</a:t>
            </a:r>
          </a:p>
          <a:p>
            <a:pPr>
              <a:spcAft>
                <a:spcPts val="800"/>
              </a:spcAft>
              <a:defRPr sz="1300" b="1">
                <a:solidFill>
                  <a:srgbClr val="F39C12"/>
                </a:solidFill>
                <a:latin typeface="Calibri"/>
              </a:defRPr>
            </a:pPr>
            <a:r>
              <a:t>Sprint 3</a:t>
            </a:r>
            <a:br/>
            <a:r>
              <a:t>Enterprise BI</a:t>
            </a:r>
            <a:br/>
            <a:r>
              <a:t>(Power BI)</a:t>
            </a:r>
          </a:p>
          <a:p>
            <a:pPr>
              <a:spcAft>
                <a:spcPts val="600"/>
              </a:spcAft>
              <a:defRPr sz="600">
                <a:solidFill>
                  <a:srgbClr val="F39C12"/>
                </a:solidFill>
              </a:defRPr>
            </a:pPr>
            <a:r>
              <a:t>────────────────────────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Power BI Desktop connected to Azure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Semantic data model (star/snowflake)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DAX measures: On-Time Rate %, peak matrices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Interactive drill-down, bookmarks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Cross-hub comparison dashboards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463040"/>
            <a:ext cx="2697480" cy="402336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 b="1">
                <a:solidFill>
                  <a:srgbClr val="27AE60"/>
                </a:solidFill>
                <a:latin typeface="Calibri"/>
              </a:defRPr>
            </a:pPr>
            <a:r>
              <a:t>SPRINT 4</a:t>
            </a:r>
          </a:p>
          <a:p>
            <a:pPr>
              <a:spcAft>
                <a:spcPts val="8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t>Sprint 4</a:t>
            </a:r>
            <a:br/>
            <a:r>
              <a:t>Conversational Transit</a:t>
            </a:r>
            <a:br/>
            <a:r>
              <a:t>Assistant (GenAI)</a:t>
            </a:r>
          </a:p>
          <a:p>
            <a:pPr>
              <a:spcAft>
                <a:spcPts val="600"/>
              </a:spcAft>
              <a:defRPr sz="600">
                <a:solidFill>
                  <a:srgbClr val="27AE60"/>
                </a:solidFill>
              </a:defRPr>
            </a:pPr>
            <a:r>
              <a:t>────────────────────────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Local LLM via Ollama / HuggingFace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Text-to-SQL with schema-aware prompts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Regex guardrails: block DROP, DELETE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Execution caps: timeout + row limit</a:t>
            </a:r>
          </a:p>
          <a:p>
            <a:pPr>
              <a:spcAft>
                <a:spcPts val="300"/>
              </a:spcAft>
              <a:defRPr sz="900">
                <a:solidFill>
                  <a:srgbClr val="CCDCE8"/>
                </a:solidFill>
                <a:latin typeface="Calibri"/>
              </a:defRPr>
            </a:pPr>
            <a:r>
              <a:t>• Streamlit chat interface — preview included!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7F95AF"/>
                </a:solidFill>
                <a:latin typeface="Calibri"/>
              </a:defRPr>
            </a:pPr>
            <a:r>
              <a:t>🛠️ Tools: Python, SQLite / PostgreSQL, Azure, Power BI, Ollama, LangChain, 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Pipeline Architecture — ELT, not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CCDCE8"/>
                </a:solidFill>
                <a:latin typeface="Calibri"/>
              </a:defRPr>
            </a:pPr>
            <a:r>
              <a:t>Python does network I/O and executes SQL. Every cleaning rule, every constraint, and every metric lives in a .sql file. Python never inspects a value — raw CSV rows land verbatim in staging tables (all TEXT, no constraints), and the transform layer decides what is clean, what is quarantined, and why.</a:t>
            </a:r>
          </a:p>
        </p:txBody>
      </p:sp>
      <p:pic>
        <p:nvPicPr>
          <p:cNvPr id="7" name="Picture 6" descr="projec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0"/>
            <a:ext cx="6400800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2560320"/>
            <a:ext cx="4114800" cy="393192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Pipeline Stages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stg_* (verbatim CSV → TEXT columns, no constraints)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02_schema.sql (3NF core: 11 entity + 6 ref_ tables, 20 FKs)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03_transform.sql (9 DQ rules, quarantine → rejected_row)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04_indexes.sql (1 index per named query, built post-load)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05_views.sql (semantic layer: v_departure, v_service_frequency, …)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06_realtime.sql (GTFS-RT additive tables, survives rebuild)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07_cleanup.sql (drop staging, VACUUM — database shrinks to ~1 GB)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sql/analysis/q1..q7.sql (47 labelled queries → output/*.csv)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Repository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CCDCE8"/>
                </a:solidFill>
                <a:latin typeface="Calibri"/>
              </a:defRPr>
            </a:pPr>
            <a:r>
              <a:t>Every rule and every metric lives under sql/. Python has exactly two jobs: network I/O and executing SQL. Nothing in src/ inspects, filters or aggregates a data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sql/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957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schema, transform, indexes, views, analysis — every number traces to a .sql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src/railpulse/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9008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thin Python layer: build, analyse, verify, benchmark, ingest, poll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scripts/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5844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poll_realtime.sh (cron/launchd), setup_api_key.py (Playwright)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tests/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178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149 tests over a synthetic broken feed — each DQ rule tested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dashboard/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7731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Streamlit report + optional SQL Chat (text-to-SQL, local model)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docs/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367527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ERD, data dictionary, analysis report, ADRs, data quality, glossary, API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output/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96188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generated: one CSV per analysis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Entity 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CCDCE8"/>
                </a:solidFill>
                <a:latin typeface="Calibri"/>
              </a:defRPr>
            </a:pPr>
            <a:r>
              <a:t>3NF model with 11 entity tables, 6 ref_ lookup tables and 20 enforced foreign keys. station and platform are split (not a single stops table). stop_time is the fact table at 2,165,507 rows — event grain: one scheduled call of one trip at one platform.</a:t>
            </a:r>
          </a:p>
        </p:txBody>
      </p:sp>
      <p:pic>
        <p:nvPicPr>
          <p:cNvPr id="7" name="Picture 6" descr="erd-read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68580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2377440"/>
            <a:ext cx="3840480" cy="411480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Key Modelling Decisions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station / platform split (2 grains in one GTFS file → 2 tables)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service keeps weekday columns + has_weekday_pattern flag (DQ-01)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stop_time materialises departure_hour, is_boardable (SARGability)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WITHOUT ROWID on service_date saves ~190 MB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Every GTFS code column → FOREIGN KEY into ref_ table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rt_trip_update.trip_id is a soft link (not FK) by design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PRAGMA foreign_key_check returns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Quality — 9 Rules, 12 Quarantined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CCDCE8"/>
                </a:solidFill>
                <a:latin typeface="Calibri"/>
              </a:defRPr>
            </a:pPr>
            <a:r>
              <a:t>7,057,090 rows staged → 7,057,078 loaded → 12 quarantined (0.00017%). Nothing is silently dropped. Each rejected row lands in rejected_row with its rule, reason, source file, physical line number and a JSON snapshot of the payload.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06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009BDE"/>
                </a:solidFill>
                <a:latin typeface="Calibri"/>
              </a:defRPr>
            </a:pPr>
            <a:r>
              <a:t>DQ-01 — calendar.txt empty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9864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CCDCE8"/>
                </a:solidFill>
                <a:latin typeface="Calibri"/>
              </a:defRPr>
            </a:pPr>
            <a:r>
              <a:t>All 51,593 services have zeroed weekday flags — the real calendar is 4.7M rows in calendar_dates.txt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606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009BDE"/>
                </a:solidFill>
                <a:latin typeface="Calibri"/>
              </a:defRPr>
            </a:pPr>
            <a:r>
              <a:t>DQ-02 — Code 0 ≠ 'no'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89864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CCDCE8"/>
                </a:solidFill>
                <a:latin typeface="Calibri"/>
              </a:defRPr>
            </a:pPr>
            <a:r>
              <a:t>wheelchair/bike code 0 means 'no information', not refusal. ref_accessibility.is_guaranteed encodes the distinction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606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009BDE"/>
                </a:solidFill>
                <a:latin typeface="Calibri"/>
              </a:defRPr>
            </a:pPr>
            <a:r>
              <a:t>DQ-03 — Implausible times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89864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CCDCE8"/>
                </a:solidFill>
                <a:latin typeface="Calibri"/>
              </a:defRPr>
            </a:pPr>
            <a:r>
              <a:t>12 calls at 63:18–87:39 into service day → quarantined. 2 trips affected, truncated in core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434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009BDE"/>
                </a:solidFill>
                <a:latin typeface="Calibri"/>
              </a:defRPr>
            </a:pPr>
            <a:r>
              <a:t>DQ-04 — Orphan FKs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72744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CCDCE8"/>
                </a:solidFill>
                <a:latin typeface="Calibri"/>
              </a:defRPr>
            </a:pPr>
            <a:r>
              <a:t>0 rows — screen before FK enforcement to convert fatal error → quarantined 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434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009BDE"/>
                </a:solidFill>
                <a:latin typeface="Calibri"/>
              </a:defRPr>
            </a:pPr>
            <a:r>
              <a:t>DQ-05 — Duplicate keys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72744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CCDCE8"/>
                </a:solidFill>
                <a:latin typeface="Calibri"/>
              </a:defRPr>
            </a:pPr>
            <a:r>
              <a:t>0 rows — ROW_NUMBER() partition guard + audit pass on INSERT OR IGNORE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F5A623"/>
                </a:solidFill>
                <a:latin typeface="Calibri"/>
              </a:defRPr>
            </a:pPr>
            <a:r>
              <a:t>Three feed quirks that changed the answers: (1) empty calendar.txt weekday flags, (2) 577K pass-through calls, (3) 31K calls at ≥ 24:00:00  —  each requires explicit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Five Analytical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400"/>
              </a:spcAft>
              <a:defRPr sz="2200" b="1">
                <a:solidFill>
                  <a:srgbClr val="009BDE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Peak Hour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56231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What hour experiences the highest volume of scheduled departures?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F5A623"/>
                </a:solidFill>
                <a:latin typeface="Calibri"/>
              </a:defRPr>
            </a:pPr>
            <a:r>
              <a:t>↳ 17:00–17:59  ·  950,651 annual departures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400"/>
              </a:spcAft>
              <a:defRPr sz="2200" b="1">
                <a:solidFill>
                  <a:srgbClr val="009BDE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Platform Bottlenecks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62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Top 3 busiest platforms at Bruxelles-Central?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51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F5A623"/>
                </a:solidFill>
                <a:latin typeface="Calibri"/>
              </a:defRPr>
            </a:pPr>
            <a:r>
              <a:t>↳ Platforms 4, 3, 2  ·  up to 12.8 trains/hour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400"/>
              </a:spcAft>
              <a:defRPr sz="2200" b="1">
                <a:solidFill>
                  <a:srgbClr val="009BDE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Morning Destinations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679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Top 3 terminal destinations for trips before 12:00?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657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F5A623"/>
                </a:solidFill>
                <a:latin typeface="Calibri"/>
              </a:defRPr>
            </a:pPr>
            <a:r>
              <a:t>↳ Anvers-Central, Louvain, Charleroi-Central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400"/>
              </a:spcAft>
              <a:defRPr sz="2200" b="1">
                <a:solidFill>
                  <a:srgbClr val="009BDE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Service Frequency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737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Classify each service: High (5+), Medium (2-4), Low (1) d/wk?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663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F5A623"/>
                </a:solidFill>
                <a:latin typeface="Calibri"/>
              </a:defRPr>
            </a:pPr>
            <a:r>
              <a:t>↳ 45.2% High · 34.7% Medium · 20.1% 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400"/>
              </a:spcAft>
              <a:defRPr sz="2200" b="1">
                <a:solidFill>
                  <a:srgbClr val="009BDE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Accessibility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8795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Ratio of trips guaranteeing wheelchair/bike?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669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F5A623"/>
                </a:solidFill>
                <a:latin typeface="Calibri"/>
              </a:defRPr>
            </a:pPr>
            <a:r>
              <a:t>↳ 91.3% bike · wheelchair field empty for all 134,809 trips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7F95AF"/>
                </a:solidFill>
                <a:latin typeface="Calibri"/>
              </a:defRPr>
            </a:pPr>
            <a:r>
              <a:t>All answers solved with SQL only — no Python filtering or aggregation.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Q1 — The Peak Hour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04 · Question 1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F5A623"/>
                </a:solidFill>
                <a:latin typeface="Calibri"/>
              </a:defRPr>
            </a:pPr>
            <a:r>
              <a:t>Answer: 17:00–17:59 — 950,651 annual departures (6.51% of network day)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CCDCE8"/>
                </a:solidFill>
                <a:latin typeface="Calibri"/>
              </a:defRPr>
            </a:pPr>
            <a:r>
              <a:t>The obvious query — SELECT departure_hour, COUNT(*) ... GROUP BY departure_hour — gives a confidently wrong answer: 10:00. The problem is that counting rows counts timetable variants, not trains. A trip that runs once and a trip that runs 250 times are one row each. Weighting each call by v_trip_service_days.operating_days (annualisation) moves hour 17 from rank 10 to rank 1. The gap between the two rankings IS the finding.</a:t>
            </a:r>
          </a:p>
        </p:txBody>
      </p:sp>
      <p:pic>
        <p:nvPicPr>
          <p:cNvPr id="8" name="Picture 7" descr="dashboard-q1-peak-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49039"/>
            <a:ext cx="6400800" cy="2743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06640" y="3749039"/>
            <a:ext cx="4297680" cy="2743200"/>
          </a:xfrm>
          <a:prstGeom prst="round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How Ranks Shift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Naïve rank 1: 10:00 (94,323 timetable rows)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Annualised rank 1: 17:00 (950,651 departures)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Hour 17: rank 10 → rank 1  (+9)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Hour 07: rank 12 → rank 2 (+10)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Hour 10: rank 1  → rank 8 (−7)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Midday calls avg 8.8 days · Evening avg 12.4 days</a:t>
            </a:r>
          </a:p>
          <a:p>
            <a:pPr lvl="1">
              <a:spcAft>
                <a:spcPts val="200"/>
              </a:spcAft>
              <a:defRPr sz="1100">
                <a:solidFill>
                  <a:srgbClr val="CCDCE8"/>
                </a:solidFill>
                <a:latin typeface="Calibri"/>
              </a:defRPr>
            </a:pPr>
            <a:r>
              <a:t>• Seasonal services over-represented in raw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Q2 — Platform Bottlenecks at Bruxelles-Central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04 · Question 2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F5A623"/>
                </a:solidFill>
                <a:latin typeface="Calibri"/>
              </a:defRPr>
            </a:pPr>
            <a:r>
              <a:t>Answer: Platforms 4 (63,426), 3 (62,276), 2 (56,874) annual departures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CCDCE8"/>
                </a:solidFill>
                <a:latin typeface="Calibri"/>
              </a:defRPr>
            </a:pPr>
            <a:r>
              <a:t>The top three platforms are robust across both measures (annualised and raw), but the order between platforms 3 and 4 swaps — platform 3 leads on raw timetable rows, platform 4 leads when weighted by operating days. 1,348 additional calls (2.69%) carry no platform allocation.</a:t>
            </a:r>
          </a:p>
        </p:txBody>
      </p:sp>
      <p:pic>
        <p:nvPicPr>
          <p:cNvPr id="8" name="Picture 7" descr="dashboard-q2-plat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17520"/>
            <a:ext cx="64008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Platform peak-hour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3832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Platform 3 · 08:00 · 12.8 trains/day · one every 4.7 min</a:t>
            </a:r>
            <a:br/>
            <a:r>
              <a:t>Platform 4 · 16:00 · 11.3 trains/day · one every 5.3 min</a:t>
            </a:r>
            <a:br/>
            <a:r>
              <a:t>Platform 2 · 07:00 · 10.9 trains/day · one every 5.5 min</a:t>
            </a:r>
            <a:br/>
            <a:r>
              <a:t>Platform 6 · 16:00 ·  8.5 trains/day · one every 7.1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Q3 — Busiest Morning Destinations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04 · Question 3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F5A623"/>
                </a:solidFill>
                <a:latin typeface="Calibri"/>
              </a:defRPr>
            </a:pPr>
            <a:r>
              <a:t>Answer: Anvers-Central (41,972), Louvain (27,516), Charleroi-Central (21,328)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CCDCE8"/>
                </a:solidFill>
                <a:latin typeface="Calibri"/>
              </a:defRPr>
            </a:pPr>
            <a:r>
              <a:t>'Morning' = trip that originates before 12:00:00. The ranking uses annualised trips (trips × operating days), not distinct trip IDs. Bruxelles-Midi is 2nd by distinct services but 4th by annualised trips — its morning services average only 5.3 operating days.</a:t>
            </a:r>
          </a:p>
        </p:txBody>
      </p:sp>
      <p:pic>
        <p:nvPicPr>
          <p:cNvPr id="8" name="Picture 7" descr="dashboard-q3-destin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17520"/>
            <a:ext cx="64008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Most morning-skewed destinations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3832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1. Schaerbeek — 65.8% of arrivals before noon</a:t>
            </a:r>
            <a:br/>
            <a:r>
              <a:t>2. Eupen — 54.7%</a:t>
            </a:r>
            <a:br/>
            <a:r>
              <a:t>3. Blankenberge — 51.7%</a:t>
            </a:r>
            <a:br/>
            <a:r>
              <a:t>4. Wavre — 49.9%</a:t>
            </a:r>
            <a:br/>
            <a:r>
              <a:t>5. Lille Flandres (FR) — 49.2%</a:t>
            </a:r>
            <a:br/>
            <a:br/>
            <a:r>
              <a:t>Schaerbeek is a depot + maintenance hub — consistent with strong morning positioning 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Q4 — Service Frequency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04 · Question 4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F5A623"/>
                </a:solidFill>
                <a:latin typeface="Calibri"/>
              </a:defRPr>
            </a:pPr>
            <a:r>
              <a:t>Answer: 45.2% High · 34.7% Medium · 20.1% Low/Special  (but the 45% carries 86.2% of operating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CCDCE8"/>
                </a:solidFill>
                <a:latin typeface="Calibri"/>
              </a:defRPr>
            </a:pPr>
            <a:r>
              <a:t>A data problem had to be solved first: calendar.txt weekday flags are ALL ZERO for all 51,593 services (DQ-01). Without that fix, the textbook CASE WHEN query classifies 100% of the Belgian rail network as 'Low Frequency'. The weekly rhythm was derived from the 4.7M rows of calendar_dates.txt via v_service_frequency (modal days per active week).</a:t>
            </a:r>
          </a:p>
        </p:txBody>
      </p:sp>
      <p:pic>
        <p:nvPicPr>
          <p:cNvPr id="8" name="Picture 7" descr="dashboard-q4-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00400"/>
            <a:ext cx="64008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Definition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5661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'High Frequency' share by definition:</a:t>
            </a:r>
            <a:br/>
            <a:br/>
            <a:r>
              <a:t>A. Modal days per active week → 45.24%</a:t>
            </a:r>
            <a:br/>
            <a:r>
              <a:t>B. Distinct weekdays ever touched → 62.26%</a:t>
            </a:r>
            <a:br/>
            <a:r>
              <a:t>C. Busiest single week → 52.10%</a:t>
            </a:r>
            <a:br/>
            <a:br/>
            <a:r>
              <a:t>Headline moves by 17 pp depending on definition.</a:t>
            </a:r>
            <a:br/>
            <a:r>
              <a:t>All three published — single number would</a:t>
            </a:r>
            <a:br/>
            <a:r>
              <a:t>imply precision the question doesn't have.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Q5 — The Accessibility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04 · Question 5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F5A623"/>
                </a:solidFill>
                <a:latin typeface="Calibri"/>
              </a:defRPr>
            </a:pPr>
            <a:r>
              <a:t>Bicycle storage: 91.3% guaranteed · Wheelchair: unpopulated for all 134,809 trips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CCDCE8"/>
                </a:solidFill>
                <a:latin typeface="Calibri"/>
              </a:defRPr>
            </a:pPr>
            <a:r>
              <a:t>The bicycle gap is a mode gap, not a route gap: 100% of 123,051 rail trips guarantee bike storage, 0% of 11,758 rail-replacement bus trips do. All 270 zero-scoring routes are buses. wheelchair_accessible is empty for ALL 134,809 trips — not a '0% accessible' finding, but a publishing gap: no journey planner using this feed can answer a wheelchair question at all.</a:t>
            </a:r>
          </a:p>
        </p:txBody>
      </p:sp>
      <p:pic>
        <p:nvPicPr>
          <p:cNvPr id="8" name="Picture 7" descr="dashboard-q5-acces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00400"/>
            <a:ext cx="64008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1">
                <a:solidFill>
                  <a:srgbClr val="009BDE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5661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CCDCE8"/>
                </a:solidFill>
                <a:latin typeface="Calibri"/>
              </a:defRPr>
            </a:pPr>
            <a:r>
              <a:t>1. Populate wheelchair_accessible at trip level</a:t>
            </a:r>
            <a:br/>
            <a:r>
              <a:t>   and wheelchair_boarding at station level</a:t>
            </a:r>
            <a:br/>
            <a:r>
              <a:t>   (single-digit cardinality fields, cheap to fix)</a:t>
            </a:r>
            <a:br/>
            <a:br/>
            <a:r>
              <a:t>2. Set bikes_allowed on replacement buses</a:t>
            </a:r>
            <a:br/>
            <a:r>
              <a:t>   explicitly (0=unknown, 2=no) — currently</a:t>
            </a:r>
            <a:br/>
            <a:r>
              <a:t>   indistinguishable from an unset field</a:t>
            </a:r>
            <a:br/>
            <a:br/>
            <a:r>
              <a:t>3. Procurement decision: bicycle capacity in</a:t>
            </a:r>
            <a:br/>
            <a:r>
              <a:t>   the replacement-bus contract — not a</a:t>
            </a:r>
            <a:br/>
            <a:r>
              <a:t>   route-by-route investigation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Findings — The Three Things Worth Acting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F5A623"/>
                </a:solidFill>
                <a:latin typeface="Calibri"/>
              </a:defRPr>
            </a:pPr>
            <a:r>
              <a:t>Finding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Bruxelles-Central is the network's structural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Handles more annual departures than Bruxelles-Midi (311,324 vs 283,415) across 6 platforms instead of 21 — that is 8,113 timetabled calls per platform against Midi's 2,085, a 3.9× pressure differential. Its busiest platform turns over 12.8 trains in its peak hour, one every 4.7 minutes. No trough in the day to absorb disruption.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009BDE"/>
                </a:solidFill>
                <a:latin typeface="Calibri"/>
              </a:defRPr>
            </a:pPr>
            <a:r>
              <a:t>Finding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evening peak is real and the timetable file hides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Naïve COUNT(*) says the network peaks at 10:00. Annualised departures say 17:00. Hour 17 sits at rank 10 on the naïve measure and rank 1 on the real one. Capacity decisions taken from an unweighted timetable count would invest in the wrong hour. The mechanism: SNCB fragments each train number into ~21 trip rows, each covering ~9 dates.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00BCA0"/>
                </a:solidFill>
                <a:latin typeface="Calibri"/>
              </a:defRPr>
            </a:pPr>
            <a:r>
              <a:t>Finding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accessibility data cannot support an accessibility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Not because the network performs badly, but because the field is empty. wheelchair_accessible carries no value for any of 134,809 trips. wheelchair_boarding carries no value for any of 652 stations. This is a publishing gap — cheap to fix relative to what it blocks.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Nice-to-Have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009BDE"/>
                </a:solidFill>
                <a:latin typeface="Calibri"/>
              </a:defRPr>
            </a:pPr>
            <a:r>
              <a:t>Live Stream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GTFS-RT trip updates and service alerts polled every 30 s via scripts/poll_realtime.sh (cron / launchd). Append-only rt_* tables survive rebuilds. Idempotent: UNIQUE(feed, feed_timestamp_epoch) so over-polling skips duplicates. 100% of real-time trip IDs resolved against the static feed in observed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009BDE"/>
                </a:solidFill>
                <a:latin typeface="Calibri"/>
              </a:defRPr>
            </a:pPr>
            <a:r>
              <a:t>Network Leaderboard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Five main hubs compared: Bruxelles-Central, -Nord, -Midi, Anvers-Central, Gand-Saint-Pierre. Composite score (connectivity, platform headroom, load smoothness) + real-time punctuality. Punctuality from live GTFS-RT: observed delay distribution, on-time (&lt;2 min) rates, cancellation tracking — mechanism works, needs a week of data for stable ranking.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009BDE"/>
                </a:solidFill>
                <a:latin typeface="Calibri"/>
              </a:defRPr>
            </a:pPr>
            <a:r>
              <a:t>Index Optimisation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4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EXPLAIN QUERY PLAN on every analytical query. Measured benchmarks: SARGable violations cost ~100× (Q1 histogram) to ~500× (Q2 platform lookup). Each index justified by a named query. Composite indexes led by the equality predicate, grouping column following. make benchmark reproduces all measurements.</a:t>
            </a:r>
          </a:p>
        </p:txBody>
      </p:sp>
      <p:pic>
        <p:nvPicPr>
          <p:cNvPr id="12" name="Picture 11" descr="dashboard-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6217920" cy="4846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Streamlit Dashboard &amp; SQL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CCDCE8"/>
                </a:solidFill>
                <a:latin typeface="Calibri"/>
              </a:defRPr>
            </a:pPr>
            <a:r>
              <a:t>The dashboard is a renderer, not an analyser. Every figure on every page is produced by a SQL query block loaded verbatim from sql/analysis/*.sql — the dashboard and graded deliverables cannot drift apart. pandas appears only to wrap already-aggregated rows for charting.</a:t>
            </a:r>
          </a:p>
        </p:txBody>
      </p:sp>
      <p:pic>
        <p:nvPicPr>
          <p:cNvPr id="7" name="Picture 6" descr="dash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5486400" cy="2103120"/>
          </a:xfrm>
          <a:prstGeom prst="rect">
            <a:avLst/>
          </a:prstGeom>
        </p:spPr>
      </p:pic>
      <p:pic>
        <p:nvPicPr>
          <p:cNvPr id="8" name="Picture 7" descr="dashboard-data-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31720"/>
            <a:ext cx="5486400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00BCA0"/>
                </a:solidFill>
                <a:latin typeface="Calibri"/>
              </a:defRPr>
            </a:pPr>
            <a:r>
              <a:t>SQL Chat — Text-to-SQL (Sprint 4 preview, fully local)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Type a question in English → local HuggingFace model translates to SQL → SQL runs against read-only database → result tabled and auto-charted. Safety: (1) read-only connection — writes raise at the engine, (2) whole-statement guardrail blocks destructive keywords &amp; stacked statements, (3) execution caps: 10 s timeout + 5,000 row limit. Optional install (~2 GB), degrades gracefully to install prompt if absent.</a:t>
            </a:r>
          </a:p>
        </p:txBody>
      </p:sp>
      <p:pic>
        <p:nvPicPr>
          <p:cNvPr id="11" name="Picture 10" descr="dashboard-sql-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572000"/>
            <a:ext cx="3931920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Database Theory — Interview Study Guide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CCDCE8"/>
                </a:solidFill>
                <a:latin typeface="Calibri"/>
              </a:defRPr>
            </a:pPr>
            <a:r>
              <a:t>SQL&amp;DB_theory.md covers 6 major topic areas, each with definitions, trade-offs and worked examples measured against this project's database. Here are the key highlights: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009BDE"/>
                </a:solidFill>
                <a:latin typeface="Calibri"/>
              </a:defRPr>
            </a:pPr>
            <a:r>
              <a:t>1. Database Paradigms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603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CCDCE8"/>
                </a:solidFill>
                <a:latin typeface="Calibri"/>
              </a:defRPr>
            </a:pPr>
            <a:r>
              <a:t>• SQL vs NoSQL: schema-first, joins, ACID vs schema-flexible, horizontal scaling, eventual consistency</a:t>
            </a:r>
            <a:br/>
            <a:r>
              <a:t>• SQLite is embedded, not server-based — zero config, single file, one writer at a time</a:t>
            </a:r>
            <a:br/>
            <a:r>
              <a:t>• 50 concurrent scrapers → SQLITE_BUSY on 84-98% of writes → migrate to PostgreSQL (MVCC)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286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009BDE"/>
                </a:solidFill>
                <a:latin typeface="Calibri"/>
              </a:defRPr>
            </a:pPr>
            <a:r>
              <a:t>2. Relational Schema &amp; Modelling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5603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CCDCE8"/>
                </a:solidFill>
                <a:latin typeface="Calibri"/>
              </a:defRPr>
            </a:pPr>
            <a:r>
              <a:t>• 3NF: every non-key fact depends on the key, the whole key, and nothing but the key</a:t>
            </a:r>
            <a:br/>
            <a:r>
              <a:t>• This database is 3NF with one deliberate denormalisation (departure_hour — for SARGability)</a:t>
            </a:r>
            <a:br/>
            <a:r>
              <a:t>• PK vs FK vs UNIQUE: PK may or may NOT create a separate B-tree in SQLite (depends on type)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009BDE"/>
                </a:solidFill>
                <a:latin typeface="Calibri"/>
              </a:defRPr>
            </a:pPr>
            <a:r>
              <a:t>3. Analytical Modelling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5603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CCDCE8"/>
                </a:solidFill>
                <a:latin typeface="Calibri"/>
              </a:defRPr>
            </a:pPr>
            <a:r>
              <a:t>• stop_time is the fact table (2.17M rows, event grain). All others are dimensions</a:t>
            </a:r>
            <a:br/>
            <a:r>
              <a:t>• This schema is snowflaked: stop_time → platform → station (2-hop traversal)</a:t>
            </a:r>
            <a:br/>
            <a:r>
              <a:t>• The grain of a fact table is the first thing you state — and the first thing that gets wrong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389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009BDE"/>
                </a:solidFill>
                <a:latin typeface="Calibri"/>
              </a:defRPr>
            </a:pPr>
            <a:r>
              <a:t>4. ACID &amp; 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6634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CCDCE8"/>
                </a:solidFill>
                <a:latin typeface="Calibri"/>
              </a:defRPr>
            </a:pPr>
            <a:r>
              <a:t>• ACID: Atomicity, Consistency, Isolation, Durability — 03_transform.sql runs as ONE transaction</a:t>
            </a:r>
            <a:br/>
            <a:r>
              <a:t>• CAP: SQLite is CP (Consistent + Partition-tolerant). When API goes down, it stays consistent</a:t>
            </a:r>
            <a:br/>
            <a:r>
              <a:t>• The 'C' in ACID ≠ the 'C' in CAP — different guarantees, shared letter by coincidence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389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009BDE"/>
                </a:solidFill>
                <a:latin typeface="Calibri"/>
              </a:defRPr>
            </a:pPr>
            <a:r>
              <a:t>5. Views / Window / Subquery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6634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CCDCE8"/>
                </a:solidFill>
                <a:latin typeface="Calibri"/>
              </a:defRPr>
            </a:pPr>
            <a:r>
              <a:t>• Views define a word once (v_departure = 'boardable call with a time'). Without it, 5 analysts give 5 answers</a:t>
            </a:r>
            <a:br/>
            <a:r>
              <a:t>• Window functions: aggregate WITHOUT collapsing rows. ROW_NUMBER, RANK, SUM OVER used throughout</a:t>
            </a:r>
            <a:br/>
            <a:r>
              <a:t>• Correlated subquery runs once per outer row — usually the performance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389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>
                <a:solidFill>
                  <a:srgbClr val="009BDE"/>
                </a:solidFill>
                <a:latin typeface="Calibri"/>
              </a:defRPr>
            </a:pPr>
            <a:r>
              <a:t>6. Index &amp; SARGability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6634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400"/>
              </a:spcAft>
              <a:defRPr sz="900" b="0">
                <a:solidFill>
                  <a:srgbClr val="CCDCE8"/>
                </a:solidFill>
                <a:latin typeface="Calibri"/>
              </a:defRPr>
            </a:pPr>
            <a:r>
              <a:t>• SARGable = Search ARGument able = the engine can use an index. Wrap a column in a function → index unusable</a:t>
            </a:r>
            <a:br/>
            <a:r>
              <a:t>• WHERE strftime('%H', departure_time) = '17' is ~100× slower than WHERE departure_hour = 17</a:t>
            </a:r>
            <a:br/>
            <a:r>
              <a:t>• Index Scan vs Index Seek: SEARCH cost grows with answer size, SCAN cost grows with TABLE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08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600200"/>
            <a:ext cx="365760" cy="36576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009BDE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4708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Portal registration + API subscription. Feed reconnaissance.</a:t>
            </a:r>
            <a:br/>
            <a:r>
              <a:t>Discovered the three quirks that shaped everything:</a:t>
            </a:r>
            <a:br/>
            <a:r>
              <a:t>empty calendar.txt flags, empty wheelchair_accessible, 577K pass-through calls.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2057400"/>
            <a:ext cx="36576" cy="64008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834639"/>
            <a:ext cx="365760" cy="36576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88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009BDE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81527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Schema design and the ELT pipeline — staging, 9 DQ rules,</a:t>
            </a:r>
            <a:br/>
            <a:r>
              <a:t>quarantine system, indexes, views. First full build.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" y="3291839"/>
            <a:ext cx="36576" cy="64008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069080"/>
            <a:ext cx="365760" cy="36576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009BDE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1596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The five analytical questions, plus the annualisation insight</a:t>
            </a:r>
            <a:br/>
            <a:r>
              <a:t>that changed Q1 and Q3 answers. Nice-to-haves:</a:t>
            </a:r>
            <a:br/>
            <a:r>
              <a:t>real-time poller, network leaderboard, index benchmarks.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8992" y="4526280"/>
            <a:ext cx="36576" cy="64008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5303520"/>
            <a:ext cx="365760" cy="36576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257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400"/>
              </a:spcAft>
              <a:defRPr sz="1600" b="1">
                <a:solidFill>
                  <a:srgbClr val="009BDE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55040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Verification harness (21 assertions), 149-test suite,</a:t>
            </a:r>
            <a:br/>
            <a:r>
              <a:t>Streamlit dashboard, documentation, SQL Chat preview,</a:t>
            </a:r>
            <a:br/>
            <a:r>
              <a:t>study guide (SQL&amp;DB_theory.md).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Evaluation Criteria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7F95AF"/>
                </a:solidFill>
                <a:latin typeface="Calibri"/>
              </a:defRPr>
            </a:pPr>
            <a:r>
              <a:t>Section 08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009BDE"/>
                </a:solidFill>
                <a:latin typeface="Calibri"/>
              </a:defRPr>
            </a:pPr>
            <a:r>
              <a:t>Must-Have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SQLite database with normalised schema and Foreign Keys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Schema diagram (ERD + drawDB)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Clean data in every table (9 DQ rules, 12 quarantined of 7M rows)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All 5 core analytical questions accurately answered (SQL only)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Table definitions + queries in dedicated .sql files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Visualisation components match data queries (Streamlit dashboard)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00BCA0"/>
                </a:solidFill>
                <a:latin typeface="Calibri"/>
              </a:defRPr>
            </a:pPr>
            <a:r>
              <a:t>Nice-to-Have (all completed)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Live Stream Integration (GTFS-RT poller, cron/launchd)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Network Leaderboard (5 hubs compared, structural + punctuality)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Index Optimisation (EXPLAIN QUERY PLAN, benchmarks, make benchmark)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Team Study Guide (SQL&amp;DB_theory.md — 6 major topic areas, 1,000+ lines)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15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SQL Chat — Text-to-SQL GenAI preview (local model, safety guardrails)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F5A623"/>
                </a:solidFill>
                <a:latin typeface="Calibri"/>
              </a:defRPr>
            </a:pPr>
            <a:r>
              <a:t>Deliverables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65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• GitHub repository with source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77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• README.md — description, ERD, visuals, contributors, timeline, personal statement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• team feedback: 5-minute overview + approach, DB design, answers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200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• Q&amp;A: random question from SQL&amp;DB_theory.md study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6118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0">
                <a:solidFill>
                  <a:srgbClr val="CCDCE8"/>
                </a:solidFill>
                <a:latin typeface="Calibri"/>
              </a:defRPr>
            </a:pPr>
            <a:r>
              <a:t>• PowerPoint presentation (this file!)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114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400"/>
              </a:spcAft>
              <a:defRPr sz="1800" b="1">
                <a:solidFill>
                  <a:srgbClr val="009BDE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26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7,057,090 rows staged → 12 quarantined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8463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149 tests · 47 labelled analysis queries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1663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34 enforced foreign keys · 21 verify assertions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486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~3 min from ZIP to verified, indexed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806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~1,750 lines of Python · ~3,000+ lines of 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6126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400"/>
              </a:spcAft>
              <a:defRPr sz="1100" b="0">
                <a:solidFill>
                  <a:srgbClr val="CCDCE8"/>
                </a:solidFill>
                <a:latin typeface="Calibri"/>
              </a:defRPr>
            </a:pPr>
            <a:r>
              <a:t>• PEP 517 package, editable install, Makefile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520"/>
              </a:lnSpc>
              <a:spcAft>
                <a:spcPts val="40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2103120" cy="36576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Aft>
                <a:spcPts val="400"/>
              </a:spcAft>
              <a:defRPr sz="2400" b="0">
                <a:solidFill>
                  <a:srgbClr val="009BDE"/>
                </a:solidFill>
                <a:latin typeface="Calibri"/>
              </a:defRPr>
            </a:pPr>
            <a:r>
              <a:t>RailPulse — Belgian Transit SQL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CCDCE8"/>
                </a:solidFill>
                <a:latin typeface="Calibri"/>
              </a:defRPr>
            </a:pPr>
            <a:r>
              <a:t>The interesting part of this project was not the SQL — it was discovering that the two most natural queries give the wrong answer.</a:t>
            </a:r>
            <a:br/>
            <a:br/>
            <a:r>
              <a:t>The query is the easy part. Knowing what the data actually is — and being willing to publish the number you did NOT pick, next to the one you did — is the job.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400"/>
              </a:spcAft>
              <a:defRPr sz="1300" b="0">
                <a:solidFill>
                  <a:srgbClr val="7F95AF"/>
                </a:solidFill>
                <a:latin typeface="Calibri"/>
              </a:defRPr>
            </a:pPr>
            <a:r>
              <a:t>Stéphane van der Aa  ·  BeCode AI &amp; Data Science  ·  July 2026</a:t>
            </a:r>
            <a:br/>
            <a:r>
              <a:t>Data: NMBS-SNCB – Open Data – 2026-07-20  ·  Licensed CC BY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400"/>
              </a:spcAft>
              <a:defRPr sz="1000" b="0">
                <a:solidFill>
                  <a:srgbClr val="7F95AF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3966</Words>
  <Application>Microsoft Macintosh PowerPoint</Application>
  <PresentationFormat>Widescreen</PresentationFormat>
  <Paragraphs>336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Stephane van der Aa</cp:lastModifiedBy>
  <cp:revision>2</cp:revision>
  <dcterms:created xsi:type="dcterms:W3CDTF">2013-01-27T09:14:16Z</dcterms:created>
  <dcterms:modified xsi:type="dcterms:W3CDTF">2026-07-23T20:22:18Z</dcterms:modified>
  <cp:category/>
</cp:coreProperties>
</file>